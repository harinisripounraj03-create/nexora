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45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reloop_smartreturn_website/index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457200"/>
            <a:ext cx="1828800" cy="1828800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737360"/>
            <a:ext cx="1234440" cy="1234440"/>
          </a:xfrm>
          <a:prstGeom prst="ellipse">
            <a:avLst/>
          </a:prstGeom>
          <a:solidFill>
            <a:srgbClr val="89DBA6"/>
          </a:solidFill>
          <a:ln>
            <a:solidFill>
              <a:srgbClr val="89D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63840" y="2743200"/>
            <a:ext cx="1371600" cy="1371600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0" y="3749039"/>
            <a:ext cx="1828800" cy="1828800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0" y="4846320"/>
            <a:ext cx="777240" cy="777240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0" y="1965960"/>
            <a:ext cx="2743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ptos"/>
              </a:rPr>
              <a:t>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4360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1">
                <a:solidFill>
                  <a:srgbClr val="89DBA6"/>
                </a:solidFill>
                <a:latin typeface="Aptos"/>
              </a:rPr>
              <a:t>RAALE HACKATHON • REVERSE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658368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ReLoop
SmartReturn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6309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0">
                <a:solidFill>
                  <a:srgbClr val="89DBA6"/>
                </a:solidFill>
                <a:latin typeface="Aptos"/>
              </a:rPr>
              <a:t>A smarter path for every returned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61264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Recover value through reuse, repair, refurbishment, recycling, and responsible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6583680" cy="1325880"/>
          </a:xfrm>
          <a:prstGeom prst="roundRect">
            <a:avLst/>
          </a:prstGeom>
          <a:solidFill>
            <a:srgbClr val="194434"/>
          </a:solidFill>
          <a:ln>
            <a:solidFill>
              <a:srgbClr val="2D5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864608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89DBA6"/>
                </a:solidFill>
                <a:latin typeface="Aptos"/>
              </a:rPr>
              <a:t>PRESENTATION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93792"/>
            <a:ext cx="621792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Aptos"/>
              </a:rPr>
              <a:t>1. Problem identification   •   2. Problem understanding   •   3. Proposed solution
4. Innovation   •   5. Technology   •   6. Prototype development
7. Working/functionality   •   8. Benefits &amp; impact   •   9. Future scope   •   10.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6400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B9D2C3"/>
                </a:solidFill>
                <a:latin typeface="Aptos"/>
              </a:rPr>
              <a:t>Student Hackathon Prototype | Demo records and impact values are illustrative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>
                <a:solidFill>
                  <a:srgbClr val="102F25"/>
                </a:solidFill>
                <a:latin typeface="Aptos"/>
              </a:rPr>
              <a:t>1. 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Reverse logistics starts when products move back from customers to businesses.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840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000" b="1">
                <a:solidFill>
                  <a:srgbClr val="102F25"/>
                </a:solidFill>
                <a:latin typeface="Aptos"/>
              </a:rPr>
              <a:t>Returns are often treated as a cost—not a recovery opportunity.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657600" cy="320040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1C2C24"/>
                </a:solidFill>
                <a:latin typeface="Aptos"/>
              </a:defRPr>
            </a:pPr>
            <a:r>
              <a:t>•  Returned items may sit idle while value declines.</a:t>
            </a:r>
          </a:p>
          <a:p>
            <a:pPr>
              <a:spcAft>
                <a:spcPts val="1300"/>
              </a:spcAft>
              <a:defRPr sz="1500">
                <a:solidFill>
                  <a:srgbClr val="1C2C24"/>
                </a:solidFill>
                <a:latin typeface="Aptos"/>
              </a:defRPr>
            </a:pPr>
            <a:r>
              <a:t>•  Manual sorting can delay decisions and recovery.</a:t>
            </a:r>
          </a:p>
          <a:p>
            <a:pPr>
              <a:spcAft>
                <a:spcPts val="1300"/>
              </a:spcAft>
              <a:defRPr sz="1500">
                <a:solidFill>
                  <a:srgbClr val="1C2C24"/>
                </a:solidFill>
                <a:latin typeface="Aptos"/>
              </a:defRPr>
            </a:pPr>
            <a:r>
              <a:t>•  Products suitable for reuse or repair may be discarded.</a:t>
            </a:r>
          </a:p>
          <a:p>
            <a:pPr>
              <a:spcAft>
                <a:spcPts val="1300"/>
              </a:spcAft>
              <a:defRPr sz="1500">
                <a:solidFill>
                  <a:srgbClr val="1C2C24"/>
                </a:solidFill>
                <a:latin typeface="Aptos"/>
              </a:defRPr>
            </a:pPr>
            <a:r>
              <a:t>•  Unclear return status makes tracking difficult.</a:t>
            </a:r>
          </a:p>
          <a:p>
            <a:pPr>
              <a:spcAft>
                <a:spcPts val="1300"/>
              </a:spcAft>
              <a:defRPr sz="1500">
                <a:solidFill>
                  <a:srgbClr val="1C2C24"/>
                </a:solidFill>
                <a:latin typeface="Aptos"/>
              </a:defRPr>
            </a:pPr>
            <a:r>
              <a:t>•  Unnecessary transport and poor packaging add cost and waste.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17320"/>
            <a:ext cx="6812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74920" y="2331720"/>
            <a:ext cx="822960" cy="822960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4612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02F25"/>
                </a:solidFill>
                <a:latin typeface="Aptos"/>
              </a:rPr>
              <a:t>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3611880"/>
            <a:ext cx="1325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5E7367"/>
                </a:solidFill>
                <a:latin typeface="Aptos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542032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5E7367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6675120" y="2331720"/>
            <a:ext cx="822960" cy="822960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02F25"/>
                </a:solidFill>
                <a:latin typeface="Aptos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611880"/>
            <a:ext cx="1325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5E7367"/>
                </a:solidFill>
                <a:latin typeface="Aptos"/>
              </a:rPr>
              <a:t>Condition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542032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5E7367"/>
                </a:solidFill>
                <a:latin typeface="Aptos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8275320" y="2331720"/>
            <a:ext cx="822960" cy="822960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24612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02F25"/>
                </a:solidFill>
                <a:latin typeface="Aptos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3611880"/>
            <a:ext cx="1325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5E7367"/>
                </a:solidFill>
                <a:latin typeface="Aptos"/>
              </a:rPr>
              <a:t>Recovery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42032"/>
            <a:ext cx="640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5E7367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9875520" y="2331720"/>
            <a:ext cx="822960" cy="822960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324612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02F25"/>
                </a:solidFill>
                <a:latin typeface="Aptos"/>
              </a:rPr>
              <a:t>Recover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3611880"/>
            <a:ext cx="1325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5E7367"/>
                </a:solidFill>
                <a:latin typeface="Aptos"/>
              </a:rPr>
              <a:t>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754880"/>
            <a:ext cx="5943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67A57"/>
                </a:solidFill>
                <a:latin typeface="Aptos"/>
              </a:rPr>
              <a:t>Core challenge: route each return to its best next life, with clear status and responsible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>
                <a:solidFill>
                  <a:srgbClr val="102F25"/>
                </a:solidFill>
                <a:latin typeface="Aptos"/>
              </a:rPr>
              <a:t>2. Understanding of 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The prototype focuses on transparent return triage and recovery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2011680"/>
          </a:xfrm>
          <a:prstGeom prst="rect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1801368"/>
            <a:ext cx="438912" cy="438912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764792"/>
            <a:ext cx="166420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10312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Capture a return request and its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6002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39" y="1600200"/>
            <a:ext cx="73152" cy="2011680"/>
          </a:xfrm>
          <a:prstGeom prst="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21607" y="1801368"/>
            <a:ext cx="438912" cy="438912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764792"/>
            <a:ext cx="166420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Assess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258568"/>
            <a:ext cx="210312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Review item category, condition, and handling needs.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002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600200"/>
            <a:ext cx="73152" cy="2011680"/>
          </a:xfrm>
          <a:prstGeom prst="rect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01968" y="1801368"/>
            <a:ext cx="438912" cy="438912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1764792"/>
            <a:ext cx="166420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258568"/>
            <a:ext cx="210312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Recommend reuse, repair/refurbishment, recycling, specialist handling, or manual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16002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81159" y="1600200"/>
            <a:ext cx="73152" cy="2011680"/>
          </a:xfrm>
          <a:prstGeom prst="rect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82328" y="1801368"/>
            <a:ext cx="438912" cy="438912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7" y="1764792"/>
            <a:ext cx="166420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2258568"/>
            <a:ext cx="210312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Search, filter, and update the request 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69080"/>
            <a:ext cx="10835640" cy="1371600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31596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1">
                <a:solidFill>
                  <a:srgbClr val="167A57"/>
                </a:solidFill>
                <a:latin typeface="Aptos"/>
              </a:rPr>
              <a:t>DESIGN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45152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Keep decisions explainable: rules guide the next step; inspection and specialist review remain essential for uncertain or hazardous items.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>
                <a:solidFill>
                  <a:srgbClr val="102F25"/>
                </a:solidFill>
                <a:latin typeface="Aptos"/>
              </a:rPr>
              <a:t>3.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ReLoop SmartReturn is a lightweight reverse-logistics dashboard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1901952"/>
            <a:ext cx="502920" cy="502920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78608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Create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9923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77440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67A57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9164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39312" y="1901952"/>
            <a:ext cx="502920" cy="502920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578608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Recommend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99923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Rule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2377440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67A57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19672" y="1901952"/>
            <a:ext cx="502920" cy="502920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78608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Manage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99923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Search &amp;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377440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67A57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691640"/>
            <a:ext cx="2423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00032" y="1901952"/>
            <a:ext cx="502920" cy="502920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2578608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Measure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8" y="299923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Summary &amp;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6908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500" b="1">
                <a:solidFill>
                  <a:srgbClr val="102F25"/>
                </a:solidFill>
                <a:latin typeface="Aptos"/>
              </a:rPr>
              <a:t>Recovery paths supported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57200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67A57"/>
                </a:solidFill>
                <a:latin typeface="Aptos"/>
              </a:rPr>
              <a:t>Reuse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90088" y="457200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81528" y="4754880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397CD"/>
                </a:solidFill>
                <a:latin typeface="Aptos"/>
              </a:rPr>
              <a:t>Repair / refurbish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02936" y="457200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94375" y="4754880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2B84B"/>
                </a:solidFill>
                <a:latin typeface="Aptos"/>
              </a:rPr>
              <a:t>Recycle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15783" y="457200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07223" y="4754880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E2735B"/>
                </a:solidFill>
                <a:latin typeface="Aptos"/>
              </a:rPr>
              <a:t>Specialist handling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28632" y="4572000"/>
            <a:ext cx="1965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5E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20072" y="4754880"/>
            <a:ext cx="1783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5E7367"/>
                </a:solidFill>
                <a:latin typeface="Aptos"/>
              </a:rPr>
              <a:t>Manual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The prototype is front-end only; it demonstrates the workflow rather than a live logistics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>
                <a:solidFill>
                  <a:srgbClr val="102F25"/>
                </a:solidFill>
                <a:latin typeface="Aptos"/>
              </a:rPr>
              <a:t>4. Innovation /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A clear recovery decision is more useful than simply recording a return.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554480"/>
          </a:xfrm>
          <a:prstGeom prst="rect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618488"/>
            <a:ext cx="438912" cy="438912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58191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Rule-based recovery suggestions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5688"/>
            <a:ext cx="461772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Maps return details to practical next-step options.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73152" cy="1554480"/>
          </a:xfrm>
          <a:prstGeom prst="rect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73368" y="1618488"/>
            <a:ext cx="438912" cy="438912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58191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One visible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75688"/>
            <a:ext cx="461772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Request creation, status updates, and filtering in one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83280"/>
            <a:ext cx="73152" cy="1554480"/>
          </a:xfrm>
          <a:prstGeom prst="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6968" y="3584448"/>
            <a:ext cx="438912" cy="438912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354787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Impact snapshot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461772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Provides a quick overview of demo return activity and recovery paths.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38328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383280"/>
            <a:ext cx="73152" cy="1554480"/>
          </a:xfrm>
          <a:prstGeom prst="rect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73368" y="3584448"/>
            <a:ext cx="438912" cy="438912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354787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CSV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41648"/>
            <a:ext cx="4617720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Lets teams export records for reporting and further analysis.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486400"/>
            <a:ext cx="10607040" cy="502920"/>
          </a:xfrm>
          <a:prstGeom prst="roundRect">
            <a:avLst/>
          </a:prstGeom>
          <a:solidFill>
            <a:srgbClr val="102F25"/>
          </a:solidFill>
          <a:ln>
            <a:solidFill>
              <a:srgbClr val="102F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596128"/>
            <a:ext cx="10332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Differentiator: practical, explainable triage—not a black-box AI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400" b="1" dirty="0"/>
              <a:t>5. Non-Coding AI / No-Code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A no-code tool stack for planning and building the workflow without programming.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16736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2588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AI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325880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Draft return categories, workflow rules, and clear user-facing explanations.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167128"/>
            <a:ext cx="502920" cy="502920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57984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Canva Magic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6712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Visual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167128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Create dashboard mockups, icons, and presentation visuals.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008376"/>
            <a:ext cx="502920" cy="502920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999232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Google 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08376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Return intake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008376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Collect customer return details through a simple online form.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849624"/>
            <a:ext cx="502920" cy="502920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4048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Google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849624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Tracking &amp;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849624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Organize return records, recovery paths, statuses, and summary tables.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690872"/>
            <a:ext cx="502920" cy="502920"/>
          </a:xfrm>
          <a:prstGeom prst="ellipse">
            <a:avLst/>
          </a:prstGeom>
          <a:solidFill>
            <a:srgbClr val="5E7367"/>
          </a:solidFill>
          <a:ln>
            <a:solidFill>
              <a:srgbClr val="5E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81728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Glide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690872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No-code app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690872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Build a simple dashboard from spreadsheet data with minimal/no coding.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715000"/>
            <a:ext cx="10149840" cy="457200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806440"/>
            <a:ext cx="9784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Suggested no-code stack. The supplied ZIP remains a separate local HTML prototype; online tools may require internet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>
                <a:solidFill>
                  <a:srgbClr val="102F25"/>
                </a:solidFill>
                <a:latin typeface="Aptos"/>
              </a:rPr>
              <a:t>6. Prototype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The supplied project ZIP contains index.html and a README.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645920"/>
            <a:ext cx="731520" cy="731520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5E7367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02F25"/>
                </a:solidFill>
                <a:latin typeface="Aptos"/>
              </a:rP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108960"/>
            <a:ext cx="1920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E7367"/>
                </a:solidFill>
                <a:latin typeface="Aptos"/>
              </a:rPr>
              <a:t>Unzip the project folder.</a:t>
            </a:r>
          </a:p>
        </p:txBody>
      </p:sp>
      <p:sp>
        <p:nvSpPr>
          <p:cNvPr id="11" name="Oval 10"/>
          <p:cNvSpPr/>
          <p:nvPr/>
        </p:nvSpPr>
        <p:spPr>
          <a:xfrm>
            <a:off x="3428999" y="1645920"/>
            <a:ext cx="731520" cy="731520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82880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5E7367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2651760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02F25"/>
                </a:solidFill>
                <a:latin typeface="Aptos"/>
              </a:rP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7" y="3108960"/>
            <a:ext cx="1920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E7367"/>
                </a:solidFill>
                <a:latin typeface="Aptos"/>
              </a:rPr>
              <a:t>Open index.html in a modern browser.</a:t>
            </a:r>
          </a:p>
        </p:txBody>
      </p:sp>
      <p:sp>
        <p:nvSpPr>
          <p:cNvPr id="15" name="Oval 14"/>
          <p:cNvSpPr/>
          <p:nvPr/>
        </p:nvSpPr>
        <p:spPr>
          <a:xfrm>
            <a:off x="5760720" y="1645920"/>
            <a:ext cx="731520" cy="731520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5E7367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651760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02F25"/>
                </a:solidFill>
                <a:latin typeface="Aptos"/>
              </a:rPr>
              <a:t>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7" y="3108960"/>
            <a:ext cx="1920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E7367"/>
                </a:solidFill>
                <a:latin typeface="Aptos"/>
              </a:rPr>
              <a:t>Create a return request and view suggested recovery path.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1645920"/>
            <a:ext cx="731520" cy="731520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182880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5E7367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651760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02F25"/>
                </a:solidFill>
                <a:latin typeface="Aptos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3108960"/>
            <a:ext cx="1920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E7367"/>
                </a:solidFill>
                <a:latin typeface="Aptos"/>
              </a:rPr>
              <a:t>Search/filter records and update their status.</a:t>
            </a:r>
          </a:p>
        </p:txBody>
      </p:sp>
      <p:sp>
        <p:nvSpPr>
          <p:cNvPr id="23" name="Oval 22"/>
          <p:cNvSpPr/>
          <p:nvPr/>
        </p:nvSpPr>
        <p:spPr>
          <a:xfrm>
            <a:off x="10424160" y="1645920"/>
            <a:ext cx="731520" cy="731520"/>
          </a:xfrm>
          <a:prstGeom prst="ellipse">
            <a:avLst/>
          </a:prstGeom>
          <a:solidFill>
            <a:srgbClr val="5E7367"/>
          </a:solidFill>
          <a:ln>
            <a:solidFill>
              <a:srgbClr val="5E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651760"/>
            <a:ext cx="1691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02F25"/>
                </a:solidFill>
                <a:latin typeface="Aptos"/>
              </a:rP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3108960"/>
            <a:ext cx="1920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E7367"/>
                </a:solidFill>
                <a:latin typeface="Aptos"/>
              </a:rPr>
              <a:t>Download records as CSV for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663440"/>
            <a:ext cx="10515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4864608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1">
                <a:solidFill>
                  <a:srgbClr val="167A57"/>
                </a:solidFill>
                <a:latin typeface="Aptos"/>
              </a:rPr>
              <a:t>Prototype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828032"/>
            <a:ext cx="8138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0">
                <a:solidFill>
                  <a:srgbClr val="102F25"/>
                </a:solidFill>
                <a:latin typeface="Aptos"/>
              </a:rPr>
              <a:t>Functional front-end demo. No backend/database, authentication, live map, partner integration, or verified carbon calculations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>
                <a:solidFill>
                  <a:srgbClr val="102F25"/>
                </a:solidFill>
                <a:latin typeface="Aptos"/>
              </a:rPr>
              <a:t>7. Working /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Use a live browser demo to show the core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67665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SmartReturn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444752"/>
            <a:ext cx="1417320" cy="365760"/>
          </a:xfrm>
          <a:prstGeom prst="roundRect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1527048"/>
            <a:ext cx="12344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+ New 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1783080" cy="822960"/>
          </a:xfrm>
          <a:prstGeom prst="roundRect">
            <a:avLst/>
          </a:prstGeom>
          <a:solidFill>
            <a:srgbClr val="F5F9F6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7" y="2121408"/>
            <a:ext cx="1554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200" b="1">
                <a:solidFill>
                  <a:srgbClr val="167A57"/>
                </a:solidFill>
                <a:latin typeface="Aptos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2468880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Demo returns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011680"/>
            <a:ext cx="1783080" cy="822960"/>
          </a:xfrm>
          <a:prstGeom prst="roundRect">
            <a:avLst/>
          </a:prstGeom>
          <a:solidFill>
            <a:srgbClr val="F5F9F6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0088" y="2121408"/>
            <a:ext cx="1554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200" b="1">
                <a:solidFill>
                  <a:srgbClr val="5397CD"/>
                </a:solidFill>
                <a:latin typeface="Aptos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468880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Reuse / repair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011680"/>
            <a:ext cx="1783080" cy="822960"/>
          </a:xfrm>
          <a:prstGeom prst="roundRect">
            <a:avLst/>
          </a:prstGeom>
          <a:solidFill>
            <a:srgbClr val="F5F9F6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01768" y="2121408"/>
            <a:ext cx="1554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200" b="1">
                <a:solidFill>
                  <a:srgbClr val="F2B84B"/>
                </a:solidFill>
                <a:latin typeface="Apto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2468880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Recycling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5852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5E7367"/>
                </a:solidFill>
                <a:latin typeface="Aptos"/>
              </a:rPr>
              <a:t>RETURN QUEUE  •  SAMPLE 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520440"/>
            <a:ext cx="6126480" cy="457200"/>
          </a:xfrm>
          <a:prstGeom prst="rect">
            <a:avLst/>
          </a:prstGeom>
          <a:solidFill>
            <a:srgbClr val="F5F9F6"/>
          </a:solidFill>
          <a:ln>
            <a:solidFill>
              <a:srgbClr val="F5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3611880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102F25"/>
                </a:solidFill>
                <a:latin typeface="Aptos"/>
              </a:rPr>
              <a:t>RT-104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611880"/>
            <a:ext cx="2011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0">
                <a:solidFill>
                  <a:srgbClr val="1C2C24"/>
                </a:solidFill>
                <a:latin typeface="Aptos"/>
              </a:rPr>
              <a:t>Small appliance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11880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F2B84B"/>
                </a:solidFill>
                <a:latin typeface="Aptos"/>
              </a:rPr>
              <a:t>Inspect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087368"/>
            <a:ext cx="6126480" cy="457200"/>
          </a:xfrm>
          <a:prstGeom prst="rect">
            <a:avLst/>
          </a:prstGeom>
          <a:solidFill>
            <a:srgbClr val="F5F9F6"/>
          </a:solidFill>
          <a:ln>
            <a:solidFill>
              <a:srgbClr val="F5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178807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102F25"/>
                </a:solidFill>
                <a:latin typeface="Aptos"/>
              </a:rPr>
              <a:t>RT-105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178807"/>
            <a:ext cx="2011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0">
                <a:solidFill>
                  <a:srgbClr val="1C2C24"/>
                </a:solidFill>
                <a:latin typeface="Aptos"/>
              </a:rPr>
              <a:t>Cardboard carton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178807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167A57"/>
                </a:solidFill>
                <a:latin typeface="Aptos"/>
              </a:rPr>
              <a:t>Recycle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4654296"/>
            <a:ext cx="6126480" cy="457200"/>
          </a:xfrm>
          <a:prstGeom prst="rect">
            <a:avLst/>
          </a:prstGeom>
          <a:solidFill>
            <a:srgbClr val="F5F9F6"/>
          </a:solidFill>
          <a:ln>
            <a:solidFill>
              <a:srgbClr val="F5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4745736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102F25"/>
                </a:solidFill>
                <a:latin typeface="Aptos"/>
              </a:rPr>
              <a:t>RT-106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745736"/>
            <a:ext cx="2011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0">
                <a:solidFill>
                  <a:srgbClr val="1C2C24"/>
                </a:solidFill>
                <a:latin typeface="Aptos"/>
              </a:rPr>
              <a:t>Office chair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745736"/>
            <a:ext cx="1645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5397CD"/>
                </a:solidFill>
                <a:latin typeface="Aptos"/>
              </a:rPr>
              <a:t>Repair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1508760"/>
            <a:ext cx="3383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800" b="1">
                <a:solidFill>
                  <a:srgbClr val="102F25"/>
                </a:solidFill>
                <a:latin typeface="Aptos"/>
              </a:rPr>
              <a:t>Demo sequence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011680"/>
            <a:ext cx="3474720" cy="3383280"/>
          </a:xfrm>
          <a:prstGeom prst="rect">
            <a:avLst/>
          </a:prstGeom>
          <a:noFill/>
        </p:spPr>
        <p:txBody>
          <a:bodyPr wrap="square" lIns="73152" rIns="54864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1C2C24"/>
                </a:solidFill>
                <a:latin typeface="Aptos"/>
              </a:defRPr>
            </a:pPr>
            <a:r>
              <a:t>•  Create a return request.</a:t>
            </a:r>
          </a:p>
          <a:p>
            <a:pPr>
              <a:spcAft>
                <a:spcPts val="1200"/>
              </a:spcAft>
              <a:defRPr sz="1300">
                <a:solidFill>
                  <a:srgbClr val="1C2C24"/>
                </a:solidFill>
                <a:latin typeface="Aptos"/>
              </a:defRPr>
            </a:pPr>
            <a:r>
              <a:t>•  Show the rule-based recovery suggestion.</a:t>
            </a:r>
          </a:p>
          <a:p>
            <a:pPr>
              <a:spcAft>
                <a:spcPts val="1200"/>
              </a:spcAft>
              <a:defRPr sz="1300">
                <a:solidFill>
                  <a:srgbClr val="1C2C24"/>
                </a:solidFill>
                <a:latin typeface="Aptos"/>
              </a:defRPr>
            </a:pPr>
            <a:r>
              <a:t>•  Search or filter the return queue.</a:t>
            </a:r>
          </a:p>
          <a:p>
            <a:pPr>
              <a:spcAft>
                <a:spcPts val="1200"/>
              </a:spcAft>
              <a:defRPr sz="1300">
                <a:solidFill>
                  <a:srgbClr val="1C2C24"/>
                </a:solidFill>
                <a:latin typeface="Aptos"/>
              </a:defRPr>
            </a:pPr>
            <a:r>
              <a:t>•  Change status as it moves through review.</a:t>
            </a:r>
          </a:p>
          <a:p>
            <a:pPr>
              <a:spcAft>
                <a:spcPts val="1200"/>
              </a:spcAft>
              <a:defRPr sz="1300">
                <a:solidFill>
                  <a:srgbClr val="1C2C24"/>
                </a:solidFill>
                <a:latin typeface="Aptos"/>
              </a:defRPr>
            </a:pPr>
            <a:r>
              <a:t>•  Open the impact summary and export CSV.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486400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Illustrative UI mockup — not actual measured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>
                <a:solidFill>
                  <a:srgbClr val="102F25"/>
                </a:solidFill>
                <a:latin typeface="Aptos"/>
              </a:rPr>
              <a:t>8. Benefits and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Expected benefits from improved return visibility and recovery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73152" cy="1280160"/>
          </a:xfrm>
          <a:prstGeom prst="rect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572768"/>
            <a:ext cx="438912" cy="438912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53619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Value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7"/>
            <a:ext cx="4617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Identify items that may be reused, repaired, or refurbished.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73152" cy="1280160"/>
          </a:xfrm>
          <a:prstGeom prst="rect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73368" y="1572768"/>
            <a:ext cx="438912" cy="438912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53619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Less waste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7"/>
            <a:ext cx="4617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Direct suitable items toward recycling or specialist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718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971800"/>
            <a:ext cx="73152" cy="1280160"/>
          </a:xfrm>
          <a:prstGeom prst="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6968" y="3172968"/>
            <a:ext cx="438912" cy="438912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313639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Better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30168"/>
            <a:ext cx="4617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Track each return through a clear status workflow.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971800"/>
            <a:ext cx="50749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2971800"/>
            <a:ext cx="73152" cy="1280160"/>
          </a:xfrm>
          <a:prstGeom prst="rect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73368" y="3172968"/>
            <a:ext cx="438912" cy="438912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313639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Useful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30168"/>
            <a:ext cx="4617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Export records for follow-up analysis and decision-making.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00600"/>
            <a:ext cx="10607040" cy="914400"/>
          </a:xfrm>
          <a:prstGeom prst="roundRect">
            <a:avLst/>
          </a:prstGeom>
          <a:solidFill>
            <a:srgbClr val="FFF6E2"/>
          </a:solidFill>
          <a:ln>
            <a:solidFill>
              <a:srgbClr val="F5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965192"/>
            <a:ext cx="10058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400" b="1">
                <a:solidFill>
                  <a:srgbClr val="8B5E12"/>
                </a:solidFill>
                <a:latin typeface="Aptos"/>
              </a:rPr>
              <a:t>Impact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285232"/>
            <a:ext cx="10058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1C2C24"/>
                </a:solidFill>
                <a:latin typeface="Aptos"/>
              </a:rPr>
              <a:t>Dashboard counts are illustrative demo data. Carbon savings, cost savings, and recovery rates are not yet independently verified.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2700" b="1">
                <a:solidFill>
                  <a:srgbClr val="102F25"/>
                </a:solidFill>
                <a:latin typeface="Aptos"/>
              </a:rPr>
              <a:t>9.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0">
                <a:solidFill>
                  <a:srgbClr val="5E7367"/>
                </a:solidFill>
                <a:latin typeface="Aptos"/>
              </a:rPr>
              <a:t>From a browser-based prototype to a secure, measurable reverse-logistics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064240" y="256032"/>
            <a:ext cx="594360" cy="329184"/>
          </a:xfrm>
          <a:prstGeom prst="roundRect">
            <a:avLst/>
          </a:prstGeom>
          <a:solidFill>
            <a:srgbClr val="DCF5E6"/>
          </a:solidFill>
          <a:ln>
            <a:solidFill>
              <a:srgbClr val="DCF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67A57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5E7367"/>
                </a:solidFill>
                <a:latin typeface="Aptos"/>
              </a:rPr>
              <a:t>ReLoop SmartReturn • Reverse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E7367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6968" y="1527048"/>
            <a:ext cx="438912" cy="438912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49047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Backend +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46177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Persist requests securely across users and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258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73152" cy="1143000"/>
          </a:xfrm>
          <a:prstGeom prst="rect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73368" y="1527048"/>
            <a:ext cx="438912" cy="438912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49047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Authentication + roles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84248"/>
            <a:ext cx="46177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Protect customer, operator, and partner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743200"/>
            <a:ext cx="73152" cy="1143000"/>
          </a:xfrm>
          <a:prstGeom prst="rect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6968" y="2944368"/>
            <a:ext cx="438912" cy="438912"/>
          </a:xfrm>
          <a:prstGeom prst="ellipse">
            <a:avLst/>
          </a:prstGeom>
          <a:solidFill>
            <a:srgbClr val="F2B84B"/>
          </a:solidFill>
          <a:ln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290779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Pickup partner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6177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Coordinate collection and handover.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7432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2743200"/>
            <a:ext cx="73152" cy="1143000"/>
          </a:xfrm>
          <a:prstGeom prst="rect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73368" y="2944368"/>
            <a:ext cx="438912" cy="438912"/>
          </a:xfrm>
          <a:prstGeom prst="ellipse">
            <a:avLst/>
          </a:prstGeom>
          <a:solidFill>
            <a:srgbClr val="E2735B"/>
          </a:solidFill>
          <a:ln>
            <a:solidFill>
              <a:srgbClr val="E27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290779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Map-based route planning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401568"/>
            <a:ext cx="46177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Plan pickup routes using validated location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4160520"/>
            <a:ext cx="73152" cy="1143000"/>
          </a:xfrm>
          <a:prstGeom prst="rect">
            <a:avLst/>
          </a:prstGeom>
          <a:solidFill>
            <a:srgbClr val="5E7367"/>
          </a:solidFill>
          <a:ln>
            <a:solidFill>
              <a:srgbClr val="5E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6968" y="4361688"/>
            <a:ext cx="438912" cy="438912"/>
          </a:xfrm>
          <a:prstGeom prst="ellipse">
            <a:avLst/>
          </a:prstGeom>
          <a:solidFill>
            <a:srgbClr val="5E7367"/>
          </a:solidFill>
          <a:ln>
            <a:solidFill>
              <a:srgbClr val="5E7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7" y="432511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Verified impact calculations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18888"/>
            <a:ext cx="46177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5E7367"/>
                </a:solidFill>
                <a:latin typeface="Aptos"/>
              </a:rPr>
              <a:t>Use documented factors and audited activity data.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16052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4160520"/>
            <a:ext cx="73152" cy="1143000"/>
          </a:xfrm>
          <a:prstGeom prst="rect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373368" y="4361688"/>
            <a:ext cx="438912" cy="438912"/>
          </a:xfrm>
          <a:prstGeom prst="ellipse">
            <a:avLst/>
          </a:prstGeom>
          <a:solidFill>
            <a:srgbClr val="5397CD"/>
          </a:solidFill>
          <a:ln>
            <a:solidFill>
              <a:srgbClr val="539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4325112"/>
            <a:ext cx="417880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1">
                <a:solidFill>
                  <a:srgbClr val="102F25"/>
                </a:solidFill>
                <a:latin typeface="Aptos"/>
              </a:rPr>
              <a:t>Analytics and audit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818888"/>
            <a:ext cx="46177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 dirty="0">
                <a:solidFill>
                  <a:srgbClr val="5E7367"/>
                </a:solidFill>
                <a:latin typeface="Aptos"/>
              </a:rPr>
              <a:t>Track recovery outcomes and explain every status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300" b="1">
                <a:solidFill>
                  <a:srgbClr val="89DBA6"/>
                </a:solidFill>
                <a:latin typeface="Aptos"/>
              </a:rPr>
              <a:t>10. WEBSITE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315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3000" b="1" dirty="0">
                <a:solidFill>
                  <a:srgbClr val="FFFFFF"/>
                </a:solidFill>
                <a:latin typeface="Aptos"/>
              </a:rPr>
              <a:t>Try the </a:t>
            </a:r>
            <a:r>
              <a:rPr sz="3000" b="1" dirty="0" err="1">
                <a:solidFill>
                  <a:srgbClr val="FFFFFF"/>
                </a:solidFill>
                <a:latin typeface="Aptos"/>
              </a:rPr>
              <a:t>ReLoop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Aptos"/>
              </a:rPr>
              <a:t>SmartReturn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675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The supplied ZIP contains a local website prototype. Extract it and open index.html in Chrome, Edge, Firefox, or another modern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46120"/>
            <a:ext cx="6675120" cy="960120"/>
          </a:xfrm>
          <a:prstGeom prst="roundRect">
            <a:avLst/>
          </a:prstGeom>
          <a:solidFill>
            <a:srgbClr val="194434"/>
          </a:solidFill>
          <a:ln>
            <a:solidFill>
              <a:srgbClr val="2D5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000" b="1">
                <a:solidFill>
                  <a:srgbClr val="89DBA6"/>
                </a:solidFill>
                <a:latin typeface="Aptos"/>
              </a:rPr>
              <a:t>LOCAL DEMO ENTRY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62179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600" b="1" dirty="0" err="1" smtClean="0">
                <a:solidFill>
                  <a:srgbClr val="FFFFFF"/>
                </a:solidFill>
                <a:latin typeface="Aptos"/>
                <a:hlinkClick r:id="rId2" action="ppaction://hlinkfile"/>
              </a:rPr>
              <a:t>reloop_smartreturn_website</a:t>
            </a:r>
            <a:r>
              <a:rPr lang="en-IN" sz="1600" b="1" dirty="0" smtClean="0">
                <a:solidFill>
                  <a:srgbClr val="FFFFFF"/>
                </a:solidFill>
                <a:latin typeface="Aptos"/>
                <a:hlinkClick r:id="rId2" action="ppaction://hlinkfile"/>
              </a:rPr>
              <a:t>/index.html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65836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00" b="0">
                <a:solidFill>
                  <a:srgbClr val="D7E8DC"/>
                </a:solidFill>
                <a:latin typeface="Aptos"/>
              </a:rPr>
              <a:t>No public hosted URL was included in the supplied ZIP. Add the deployed URL here after publishing the site (for example, using GitHub Pages or another hosting service).</a:t>
            </a:r>
          </a:p>
        </p:txBody>
      </p:sp>
      <p:sp>
        <p:nvSpPr>
          <p:cNvPr id="9" name="Oval 8"/>
          <p:cNvSpPr/>
          <p:nvPr/>
        </p:nvSpPr>
        <p:spPr>
          <a:xfrm>
            <a:off x="8595360" y="1874519"/>
            <a:ext cx="2057400" cy="2057400"/>
          </a:xfrm>
          <a:prstGeom prst="ellipse">
            <a:avLst/>
          </a:prstGeom>
          <a:solidFill>
            <a:srgbClr val="167A57"/>
          </a:solidFill>
          <a:ln>
            <a:solidFill>
              <a:srgbClr val="16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800" b="1">
                <a:solidFill>
                  <a:srgbClr val="FFFFFF"/>
                </a:solidFill>
                <a:latin typeface="Aptos Display"/>
              </a:rPr>
              <a:t>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110317"/>
            <a:ext cx="3474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89DBA6"/>
                </a:solidFill>
                <a:latin typeface="Aptos"/>
              </a:rPr>
              <a:t>Return • Recover • ReLoop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900" b="0">
                <a:solidFill>
                  <a:srgbClr val="B9D2C3"/>
                </a:solidFill>
                <a:latin typeface="Aptos"/>
              </a:rPr>
              <a:t>Thank you | ReLoop SmartReturn • RAALE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1043</Words>
  <Application>Microsoft Office PowerPoint</Application>
  <PresentationFormat>Custom</PresentationFormat>
  <Paragraphs>232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dc:description>generated using python-pptx</dc:description>
  <cp:lastModifiedBy>USER</cp:lastModifiedBy>
  <cp:revision>4</cp:revision>
  <dcterms:created xsi:type="dcterms:W3CDTF">2013-01-27T09:14:16Z</dcterms:created>
  <dcterms:modified xsi:type="dcterms:W3CDTF">2026-10-12T12:37:06Z</dcterms:modified>
</cp:coreProperties>
</file>